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Research Paper Analysis Using Multimodal RAG and 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B4B4B4"/>
                </a:solidFill>
              </a:defRPr>
            </a:pPr>
            <a:r>
              <a:t>by</a:t>
            </a:r>
          </a:p>
          <a:p>
            <a:r>
              <a:t>Agastya Kundu (23UEC508) | Ayush Negi (23UCC528) | Siddharth Jain (23UEC625)</a:t>
            </a:r>
          </a:p>
          <a:p/>
          <a:p>
            <a:r>
              <a:t>Under Guidance of: Dr. Vaibhav Kumar Gupta</a:t>
            </a:r>
          </a:p>
          <a:p>
            <a:r>
              <a:t>Department of ECE, LNMIIT Jaipur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AF82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Literature Overload: 5,000+ new papers daily in Engineering.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Loss of Context: Figures/Tables are disconnected from text in standard RAG.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The 'Not Reported' Trap: Generic AI misses specific technical results.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Need: An automated technical auditor that understands complex academic PDF layouts.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AF82"/>
                </a:solidFill>
              </a:defRPr>
            </a:pPr>
            <a:r>
              <a:t>System Architecture: LangGraph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Agentic Orchestration: Moves beyond linear pipelines using LangGraph.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State Machine: Cyclic reasoning between Summarizer, Critic, and Writer nodes.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200400"/>
            <a:ext cx="5486400" cy="2743200"/>
          </a:xfrm>
          <a:prstGeom prst="rect">
            <a:avLst/>
          </a:prstGeom>
          <a:solidFill>
            <a:srgbClr val="2A3347"/>
          </a:solidFill>
          <a:ln w="25400">
            <a:solidFill>
              <a:srgbClr val="4CA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[ INSERT SCREENSHOT HERE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AF82"/>
                </a:solidFill>
              </a:defRPr>
            </a:pPr>
            <a:r>
              <a:t>Multimodal Figure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Spatial Grounding: Extracts text directly above and below figures.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Multi-Engine Parsing: Combining PyMuPDF and fitz for vector fidelity.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Vision Grounding: Sends image + spatial context to AI to ensure zero-hallucination.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57600"/>
            <a:ext cx="5486400" cy="2743200"/>
          </a:xfrm>
          <a:prstGeom prst="rect">
            <a:avLst/>
          </a:prstGeom>
          <a:solidFill>
            <a:srgbClr val="2A3347"/>
          </a:solidFill>
          <a:ln w="25400">
            <a:solidFill>
              <a:srgbClr val="4CA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[ INSERT SCREENSHOT HERE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AF82"/>
                </a:solidFill>
              </a:defRPr>
            </a:pPr>
            <a:r>
              <a:t>Engineering-Grade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Multi-Query Expansion: Splits search into Problem, Method, and Results.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Retrieval Depth: k=5 per query for 360-degree technical coverage.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Sliding Window: 500-char chunks for precise semantic matching.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AF82"/>
                </a:solidFill>
              </a:defRPr>
            </a:pPr>
            <a:r>
              <a:t>Automated Technical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Persona: AI acts as a Senior Technical Reviewer.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LaTeX Support: Native mathematical equation rendering ($).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Structured Sections: Architecture, Performance, Simulation, and Results.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57600"/>
            <a:ext cx="5486400" cy="2743200"/>
          </a:xfrm>
          <a:prstGeom prst="rect">
            <a:avLst/>
          </a:prstGeom>
          <a:solidFill>
            <a:srgbClr val="2A3347"/>
          </a:solidFill>
          <a:ln w="25400">
            <a:solidFill>
              <a:srgbClr val="4CA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[ INSERT SCREENSHOT HERE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AF82"/>
                </a:solidFill>
              </a:defRPr>
            </a:pPr>
            <a:r>
              <a:t>Hybrid Cross-Engine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Parallel Search: ArXiv, OpenAlex, Semantic Scholar, and CrossRef.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Filtering: Prioritizes Engineering venues (IEEE, Springer, Elsevier).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Comparative Matrix: Side-by-side gap analysis of 6 related works.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57600"/>
            <a:ext cx="5486400" cy="2743200"/>
          </a:xfrm>
          <a:prstGeom prst="rect">
            <a:avLst/>
          </a:prstGeom>
          <a:solidFill>
            <a:srgbClr val="2A3347"/>
          </a:solidFill>
          <a:ln w="25400">
            <a:solidFill>
              <a:srgbClr val="4CA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[ INSERT SCREENSHOT HERE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AF82"/>
                </a:solidFill>
              </a:defRPr>
            </a:pPr>
            <a:r>
              <a:t>Technical Improvement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Detection: Identified 5 critical technical gaps in current research.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Rewriting: AI-driven 'Pull Request' to Sound like the original author.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Style Matching: Preserves nuances while strengthening methodology.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57600"/>
            <a:ext cx="5486400" cy="2743200"/>
          </a:xfrm>
          <a:prstGeom prst="rect">
            <a:avLst/>
          </a:prstGeom>
          <a:solidFill>
            <a:srgbClr val="2A3347"/>
          </a:solidFill>
          <a:ln w="25400">
            <a:solidFill>
              <a:srgbClr val="4CA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[ INSERT SCREENSHOT HERE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AF82"/>
                </a:solidFill>
              </a:defRPr>
            </a:pPr>
            <a:r>
              <a:t>Inference &amp; Data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Inference: Groq LPU (Language Processing Unit) for ultra-fast response.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Vector DB: FAISS for high-performance retrieval.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Frontend: Streamlit for interactive dashboard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AF82"/>
                </a:solidFill>
              </a:defRPr>
            </a:pPr>
            <a:r>
              <a:t>Self-Healing Reliability: 3-Tier Fallback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Layer 1: GPT-OSS-120B (High Reasoning).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Layer 2: Llama-3.3-70B (Reliable backup for summaries).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Layer 3: Llama-3.1-8B (High-TPM speed tier for Q&amp;A).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Result: Zero-downtime demo handling 100k+ daily token limits.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AF8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ScholarAI significantly reduces technical review time from hours to minutes.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Multi-agentic workflows prove superior for deep document reasoning.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Multimodal grounding drastically improves figure interpretability.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AF82"/>
                </a:solidFill>
              </a:defRPr>
            </a:pPr>
            <a:r>
              <a:t>Future Scope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Persistent Workspaces: SQLite-based browser session storage.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Citation Generation: Native IEEE, BibTeX formats.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Multi-Domain Tuning: Law, Medicine, and Law domain models.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57600"/>
            <a:ext cx="5486400" cy="2743200"/>
          </a:xfrm>
          <a:prstGeom prst="rect">
            <a:avLst/>
          </a:prstGeom>
          <a:solidFill>
            <a:srgbClr val="2A3347"/>
          </a:solidFill>
          <a:ln w="25400">
            <a:solidFill>
              <a:srgbClr val="4CA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[ INSERT SCREENSHOT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